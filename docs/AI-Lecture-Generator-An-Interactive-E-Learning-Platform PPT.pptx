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4630400" cy="8229600"/>
  <p:notesSz cx="8229600" cy="14630400"/>
  <p:embeddedFontLst>
    <p:embeddedFont>
      <p:font typeface="Heebo Light" panose="020F0502020204030204" pitchFamily="34" charset="0"/>
      <p:regular r:id="rId15"/>
    </p:embeddedFont>
    <p:embeddedFont>
      <p:font typeface="Montserrat" pitchFamily="2" charset="77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8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86256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37803" y="763667"/>
            <a:ext cx="7641193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Lecture Generator - An Interactive E-Learning Platform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6237803" y="3098363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Presented by: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37803" y="3683198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Anji Reddy Sattaru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237803" y="4101703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Surya Teja Reddy Chitti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237803" y="4520208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Vedanth Reddy Doddannagari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237803" y="4938713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Srikanth Thota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6237803" y="5357217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Mounika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Aithagoni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6237803" y="5775722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Hima Sai Kuruba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237803" y="6194227"/>
            <a:ext cx="7641193" cy="343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700"/>
              </a:lnSpc>
              <a:buSzPct val="100000"/>
              <a:buChar char="•"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Venkata Susmitha </a:t>
            </a:r>
            <a:r>
              <a:rPr lang="en-US" sz="1650" dirty="0" err="1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Duggineni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237803" y="6779062"/>
            <a:ext cx="7641193" cy="686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cutting-edge platform uses AI to create dynamic video lessons, packed with quizzes and a live Q&amp;A chatbot, transforming the way you learn at your own pace.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17" y="905113"/>
            <a:ext cx="4992648" cy="6419255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77558" y="833914"/>
            <a:ext cx="6764774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 and Goals</a:t>
            </a:r>
            <a:endParaRPr lang="en-US" sz="3850" dirty="0"/>
          </a:p>
        </p:txBody>
      </p:sp>
      <p:sp>
        <p:nvSpPr>
          <p:cNvPr id="5" name="Shape 1"/>
          <p:cNvSpPr/>
          <p:nvPr/>
        </p:nvSpPr>
        <p:spPr>
          <a:xfrm>
            <a:off x="6177558" y="1747242"/>
            <a:ext cx="3782139" cy="2725460"/>
          </a:xfrm>
          <a:prstGeom prst="roundRect">
            <a:avLst>
              <a:gd name="adj" fmla="val 304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2"/>
          <p:cNvSpPr/>
          <p:nvPr/>
        </p:nvSpPr>
        <p:spPr>
          <a:xfrm>
            <a:off x="6382583" y="1952268"/>
            <a:ext cx="3372088" cy="61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Content Creation</a:t>
            </a: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382583" y="2687717"/>
            <a:ext cx="3372088" cy="157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Converts user topics into fully structured lectures including agenda and recap sections, streamlining course material generation to save educators’ time.</a:t>
            </a:r>
            <a:endParaRPr lang="en-US" sz="1550" dirty="0"/>
          </a:p>
        </p:txBody>
      </p:sp>
      <p:sp>
        <p:nvSpPr>
          <p:cNvPr id="8" name="Shape 4"/>
          <p:cNvSpPr/>
          <p:nvPr/>
        </p:nvSpPr>
        <p:spPr>
          <a:xfrm>
            <a:off x="10157103" y="1747242"/>
            <a:ext cx="3782139" cy="2725460"/>
          </a:xfrm>
          <a:prstGeom prst="roundRect">
            <a:avLst>
              <a:gd name="adj" fmla="val 304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10362128" y="1952268"/>
            <a:ext cx="2780348" cy="308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Engagement Features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0362128" y="2379226"/>
            <a:ext cx="3372088" cy="157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 chatbot supports real-time, topic-specific Q&amp;A, enhancing learner interaction. Interactive quizzes provide immediate feedback to reinforce understanding.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6177558" y="4670108"/>
            <a:ext cx="3782139" cy="2725460"/>
          </a:xfrm>
          <a:prstGeom prst="roundRect">
            <a:avLst>
              <a:gd name="adj" fmla="val 304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382583" y="4875133"/>
            <a:ext cx="3372088" cy="61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Multimedia &amp; User Management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6382583" y="5610582"/>
            <a:ext cx="3372088" cy="1263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Supports diagrams, code snippets, and math equations. User profiles allow tracking of generated lectures through signup and login functions.</a:t>
            </a:r>
            <a:endParaRPr lang="en-US" sz="1550" dirty="0"/>
          </a:p>
        </p:txBody>
      </p:sp>
      <p:sp>
        <p:nvSpPr>
          <p:cNvPr id="14" name="Shape 10"/>
          <p:cNvSpPr/>
          <p:nvPr/>
        </p:nvSpPr>
        <p:spPr>
          <a:xfrm>
            <a:off x="10157103" y="4670108"/>
            <a:ext cx="3782139" cy="2725460"/>
          </a:xfrm>
          <a:prstGeom prst="roundRect">
            <a:avLst>
              <a:gd name="adj" fmla="val 304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10362128" y="4875133"/>
            <a:ext cx="3372088" cy="616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Avatar Creation with Echomimic v2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10362128" y="5610582"/>
            <a:ext cx="3372088" cy="1579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 advanced avatar embedded within videos acts like a professor, dynamically explaining lecture content to provide a personalized and engaging learning experience.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8700"/>
            <a:ext cx="1164907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Addressing Key Challenges in E-Learning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254454"/>
            <a:ext cx="435887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Limitations of Current Systems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8355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Pre-recorded videos are static and do not adapt to individual learning pace or questions.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6406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Lack of instant, contextual support for learner queries hinders engagement.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4458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Manual quiz creation increases educator workload and delays feedback delivery.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3254454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 AI-Driven Solution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99521" y="3835598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Lecture content dynamically generated to fit input topics and learner needs.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599521" y="4640699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Context-aware chatbot providing instant, accurate answers to learner questions.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599521" y="5445800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Automated quiz generation seamlessly integrated with lecture content for timely assessment.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699" y="924282"/>
            <a:ext cx="4962882" cy="638091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19111" y="895588"/>
            <a:ext cx="7678579" cy="130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 Behind the Platform</a:t>
            </a:r>
            <a:endParaRPr lang="en-US" sz="4100" dirty="0"/>
          </a:p>
        </p:txBody>
      </p:sp>
      <p:sp>
        <p:nvSpPr>
          <p:cNvPr id="5" name="Shape 1"/>
          <p:cNvSpPr/>
          <p:nvPr/>
        </p:nvSpPr>
        <p:spPr>
          <a:xfrm>
            <a:off x="6219111" y="2518053"/>
            <a:ext cx="471011" cy="471011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7632" y="2557284"/>
            <a:ext cx="313968" cy="39254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99434" y="2589967"/>
            <a:ext cx="3013472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 Technologies</a:t>
            </a:r>
            <a:endParaRPr lang="en-US" sz="2050" dirty="0"/>
          </a:p>
        </p:txBody>
      </p:sp>
      <p:sp>
        <p:nvSpPr>
          <p:cNvPr id="8" name="Text 3"/>
          <p:cNvSpPr/>
          <p:nvPr/>
        </p:nvSpPr>
        <p:spPr>
          <a:xfrm>
            <a:off x="6899434" y="3042642"/>
            <a:ext cx="3028117" cy="133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React framework featuring Gradio UI for chat interface controls and Playwright for rendering slide visuals.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10189250" y="2518053"/>
            <a:ext cx="471011" cy="471011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7771" y="2557284"/>
            <a:ext cx="313968" cy="39254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869573" y="2589967"/>
            <a:ext cx="2936319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Backend Components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10869573" y="3042642"/>
            <a:ext cx="3028117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FastAPI manages video generation endpoints, OpenAI GPT-4 generates lecture and quiz content, with TTS for natural audio narration.</a:t>
            </a:r>
            <a:endParaRPr lang="en-US" sz="1600" dirty="0"/>
          </a:p>
        </p:txBody>
      </p:sp>
      <p:sp>
        <p:nvSpPr>
          <p:cNvPr id="13" name="Shape 7"/>
          <p:cNvSpPr/>
          <p:nvPr/>
        </p:nvSpPr>
        <p:spPr>
          <a:xfrm>
            <a:off x="6219111" y="5135285"/>
            <a:ext cx="471011" cy="471011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7632" y="5174516"/>
            <a:ext cx="313968" cy="39254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99434" y="5207198"/>
            <a:ext cx="261699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Supporting Tools</a:t>
            </a:r>
            <a:endParaRPr lang="en-US" sz="2050" dirty="0"/>
          </a:p>
        </p:txBody>
      </p:sp>
      <p:sp>
        <p:nvSpPr>
          <p:cNvPr id="16" name="Text 9"/>
          <p:cNvSpPr/>
          <p:nvPr/>
        </p:nvSpPr>
        <p:spPr>
          <a:xfrm>
            <a:off x="6899434" y="5659874"/>
            <a:ext cx="3028117" cy="1339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profile database for managing video history, MoviePy for processing videos, and Git for version control.</a:t>
            </a:r>
            <a:endParaRPr lang="en-US" sz="1600" dirty="0"/>
          </a:p>
        </p:txBody>
      </p:sp>
      <p:sp>
        <p:nvSpPr>
          <p:cNvPr id="17" name="Shape 10"/>
          <p:cNvSpPr/>
          <p:nvPr/>
        </p:nvSpPr>
        <p:spPr>
          <a:xfrm>
            <a:off x="10189250" y="5135285"/>
            <a:ext cx="471011" cy="471011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67771" y="5174516"/>
            <a:ext cx="313968" cy="39254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869573" y="5207198"/>
            <a:ext cx="2616994" cy="3270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Avatar Creation</a:t>
            </a:r>
            <a:endParaRPr lang="en-US" sz="2050" dirty="0"/>
          </a:p>
        </p:txBody>
      </p:sp>
      <p:sp>
        <p:nvSpPr>
          <p:cNvPr id="20" name="Text 12"/>
          <p:cNvSpPr/>
          <p:nvPr/>
        </p:nvSpPr>
        <p:spPr>
          <a:xfrm>
            <a:off x="10869573" y="5659874"/>
            <a:ext cx="3028117" cy="1674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Echomimic v2 avatar technology embedded in videos for dynamic, personalized professor-like explanations enhancing learner engagement.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553" y="889396"/>
            <a:ext cx="5017294" cy="660820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43268" y="536734"/>
            <a:ext cx="7830264" cy="1173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6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Comprehensive System Architecture</a:t>
            </a:r>
            <a:endParaRPr lang="en-US" sz="3650" dirty="0"/>
          </a:p>
        </p:txBody>
      </p:sp>
      <p:sp>
        <p:nvSpPr>
          <p:cNvPr id="5" name="Shape 1"/>
          <p:cNvSpPr/>
          <p:nvPr/>
        </p:nvSpPr>
        <p:spPr>
          <a:xfrm>
            <a:off x="10046970" y="1991201"/>
            <a:ext cx="22860" cy="5701665"/>
          </a:xfrm>
          <a:prstGeom prst="roundRect">
            <a:avLst>
              <a:gd name="adj" fmla="val 344856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2"/>
          <p:cNvSpPr/>
          <p:nvPr/>
        </p:nvSpPr>
        <p:spPr>
          <a:xfrm>
            <a:off x="9307056" y="2190869"/>
            <a:ext cx="563047" cy="22860"/>
          </a:xfrm>
          <a:prstGeom prst="roundRect">
            <a:avLst>
              <a:gd name="adj" fmla="val 344856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3"/>
          <p:cNvSpPr/>
          <p:nvPr/>
        </p:nvSpPr>
        <p:spPr>
          <a:xfrm>
            <a:off x="9847243" y="1991201"/>
            <a:ext cx="422315" cy="422315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4"/>
          <p:cNvSpPr/>
          <p:nvPr/>
        </p:nvSpPr>
        <p:spPr>
          <a:xfrm>
            <a:off x="9917609" y="2026384"/>
            <a:ext cx="28146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6773704" y="2055614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Input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143268" y="2461379"/>
            <a:ext cx="2976682" cy="60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Users submit topics for lecture generation initiating the flow.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10246697" y="3316843"/>
            <a:ext cx="563047" cy="22860"/>
          </a:xfrm>
          <a:prstGeom prst="roundRect">
            <a:avLst>
              <a:gd name="adj" fmla="val 344856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8"/>
          <p:cNvSpPr/>
          <p:nvPr/>
        </p:nvSpPr>
        <p:spPr>
          <a:xfrm>
            <a:off x="9847243" y="3117175"/>
            <a:ext cx="422315" cy="422315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9"/>
          <p:cNvSpPr/>
          <p:nvPr/>
        </p:nvSpPr>
        <p:spPr>
          <a:xfrm>
            <a:off x="9917609" y="3152358"/>
            <a:ext cx="28146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10996851" y="3181588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GPT-4 Generator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0996851" y="3587353"/>
            <a:ext cx="2976682" cy="600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Generates lecture content, slides, quizzes, and chat context using AI.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9307056" y="4287441"/>
            <a:ext cx="563047" cy="22860"/>
          </a:xfrm>
          <a:prstGeom prst="roundRect">
            <a:avLst>
              <a:gd name="adj" fmla="val 344856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Shape 13"/>
          <p:cNvSpPr/>
          <p:nvPr/>
        </p:nvSpPr>
        <p:spPr>
          <a:xfrm>
            <a:off x="9847243" y="4087773"/>
            <a:ext cx="422315" cy="422315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/>
          <p:nvPr/>
        </p:nvSpPr>
        <p:spPr>
          <a:xfrm>
            <a:off x="9917609" y="4122956"/>
            <a:ext cx="28146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6143268" y="4152186"/>
            <a:ext cx="2976682" cy="586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Rendering and Media Processing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6143268" y="4851202"/>
            <a:ext cx="2976682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Reveal.js creates slides, Playwright captures screenshots, and TTS produces audio narrations.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10246697" y="5306973"/>
            <a:ext cx="563047" cy="22860"/>
          </a:xfrm>
          <a:prstGeom prst="roundRect">
            <a:avLst>
              <a:gd name="adj" fmla="val 344856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8"/>
          <p:cNvSpPr/>
          <p:nvPr/>
        </p:nvSpPr>
        <p:spPr>
          <a:xfrm>
            <a:off x="9847243" y="5107305"/>
            <a:ext cx="422315" cy="422315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9"/>
          <p:cNvSpPr/>
          <p:nvPr/>
        </p:nvSpPr>
        <p:spPr>
          <a:xfrm>
            <a:off x="9917609" y="5142488"/>
            <a:ext cx="28146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10996851" y="5171718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Final Assembly</a:t>
            </a:r>
            <a:endParaRPr lang="en-US" sz="1800" dirty="0"/>
          </a:p>
        </p:txBody>
      </p:sp>
      <p:sp>
        <p:nvSpPr>
          <p:cNvPr id="25" name="Text 21"/>
          <p:cNvSpPr/>
          <p:nvPr/>
        </p:nvSpPr>
        <p:spPr>
          <a:xfrm>
            <a:off x="10996851" y="5577483"/>
            <a:ext cx="2976682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MoviePy merges audio and video into polished lecture videos for playback.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9307056" y="6326624"/>
            <a:ext cx="563047" cy="22860"/>
          </a:xfrm>
          <a:prstGeom prst="roundRect">
            <a:avLst>
              <a:gd name="adj" fmla="val 344856"/>
            </a:avLst>
          </a:prstGeom>
          <a:solidFill>
            <a:srgbClr val="4A2C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3"/>
          <p:cNvSpPr/>
          <p:nvPr/>
        </p:nvSpPr>
        <p:spPr>
          <a:xfrm>
            <a:off x="9847243" y="6126956"/>
            <a:ext cx="422315" cy="422315"/>
          </a:xfrm>
          <a:prstGeom prst="roundRect">
            <a:avLst>
              <a:gd name="adj" fmla="val 18667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/>
          <p:nvPr/>
        </p:nvSpPr>
        <p:spPr>
          <a:xfrm>
            <a:off x="9917609" y="6162139"/>
            <a:ext cx="281464" cy="351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5"/>
          <p:cNvSpPr/>
          <p:nvPr/>
        </p:nvSpPr>
        <p:spPr>
          <a:xfrm>
            <a:off x="6773704" y="6191369"/>
            <a:ext cx="2346246" cy="293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300"/>
              </a:lnSpc>
              <a:buNone/>
            </a:pPr>
            <a:r>
              <a:rPr lang="en-US" sz="18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Modules</a:t>
            </a:r>
            <a:endParaRPr lang="en-US" sz="1800" dirty="0"/>
          </a:p>
        </p:txBody>
      </p:sp>
      <p:sp>
        <p:nvSpPr>
          <p:cNvPr id="30" name="Text 26"/>
          <p:cNvSpPr/>
          <p:nvPr/>
        </p:nvSpPr>
        <p:spPr>
          <a:xfrm>
            <a:off x="6143268" y="6597134"/>
            <a:ext cx="2976682" cy="90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350"/>
              </a:lnSpc>
              <a:buNone/>
            </a:pPr>
            <a:r>
              <a:rPr lang="en-US" sz="14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Quiz interface and chatbot utilize lecture context for seamless learner interaction.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93790" y="1119664"/>
            <a:ext cx="77563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Modules and Features</a:t>
            </a:r>
            <a:endParaRPr lang="en-US" sz="4450" dirty="0"/>
          </a:p>
        </p:txBody>
      </p:sp>
      <p:sp>
        <p:nvSpPr>
          <p:cNvPr id="5" name="Text 2"/>
          <p:cNvSpPr/>
          <p:nvPr/>
        </p:nvSpPr>
        <p:spPr>
          <a:xfrm>
            <a:off x="793790" y="2395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Engine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2976563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Topic-locked GPT-4 chatbot that ensures relevant, on-topic answers relating to the lecture content.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200406" y="2395418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Authentication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200406" y="3330893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Enables signup and login to save and track previously generated video lectures for each user.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607022" y="2395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Dashboard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07022" y="2976563"/>
            <a:ext cx="284559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Accessible interface listing all prior lectures, allowing easy review and management.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1013638" y="2395418"/>
            <a:ext cx="2845594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Interactive Quiz Features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1013638" y="3330893"/>
            <a:ext cx="2845594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Automatically generated questions with retry logic providing up to three attempts including tailored feedback.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93790" y="568964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Avatar Creation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93790" y="638413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Advanced avatar embedded in videos like a professor, dynamically explaining lecture content to provide engaging learning experiences.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88" y="952262"/>
            <a:ext cx="4919305" cy="632495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280190" y="7311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End-to-End Workflow with Real-Time Interaction</a:t>
            </a:r>
            <a:endParaRPr lang="en-US" sz="4450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2488883"/>
            <a:ext cx="1134070" cy="166985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754422" y="27156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Topic Submission</a:t>
            </a:r>
            <a:endParaRPr lang="en-US" sz="2200" dirty="0"/>
          </a:p>
        </p:txBody>
      </p:sp>
      <p:sp>
        <p:nvSpPr>
          <p:cNvPr id="7" name="Text 2"/>
          <p:cNvSpPr/>
          <p:nvPr/>
        </p:nvSpPr>
        <p:spPr>
          <a:xfrm>
            <a:off x="7754422" y="3206115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User enters lecture topic triggering AI generation of HTML slides, narration data, and quiz questions.</a:t>
            </a:r>
            <a:endParaRPr lang="en-US" sz="175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158734"/>
            <a:ext cx="1134070" cy="166985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754422" y="4385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Parallel Rendering</a:t>
            </a:r>
            <a:endParaRPr lang="en-US" sz="2200" dirty="0"/>
          </a:p>
        </p:txBody>
      </p:sp>
      <p:sp>
        <p:nvSpPr>
          <p:cNvPr id="10" name="Text 4"/>
          <p:cNvSpPr/>
          <p:nvPr/>
        </p:nvSpPr>
        <p:spPr>
          <a:xfrm>
            <a:off x="7754422" y="4875967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Playwright generates slide images simultaneously as text-to-speech produces audio clips.</a:t>
            </a:r>
            <a:endParaRPr lang="en-US" sz="17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5828586"/>
            <a:ext cx="1134070" cy="166985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7754422" y="60554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Access</a:t>
            </a:r>
            <a:endParaRPr lang="en-US" sz="2200" dirty="0"/>
          </a:p>
        </p:txBody>
      </p:sp>
      <p:sp>
        <p:nvSpPr>
          <p:cNvPr id="13" name="Text 6"/>
          <p:cNvSpPr/>
          <p:nvPr/>
        </p:nvSpPr>
        <p:spPr>
          <a:xfrm>
            <a:off x="7754422" y="6545818"/>
            <a:ext cx="6082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Lectures delivered with video player plus chatbot and quiz tabs for seamless, interactive learning.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059299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Interface and Experience Highlights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281701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028224" y="3051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Interface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8224" y="354187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Simple textbox with system prompt “Chat ready - ask questions!” encourages real-time learner engagement.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2817019"/>
            <a:ext cx="3664863" cy="2410897"/>
          </a:xfrm>
          <a:prstGeom prst="roundRect">
            <a:avLst>
              <a:gd name="adj" fmla="val 3952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19901" y="30514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Video Dashboard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9901" y="3541871"/>
            <a:ext cx="319599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Displays thumbnails and titles allowing easy navigation through previously created lectures.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5454729"/>
            <a:ext cx="7556421" cy="1715572"/>
          </a:xfrm>
          <a:prstGeom prst="roundRect">
            <a:avLst>
              <a:gd name="adj" fmla="val 5553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28224" y="56891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Quiz User Interface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8224" y="6179582"/>
            <a:ext cx="7087553" cy="7562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Interactive radio buttons with immediate visual feedback (“</a:t>
            </a:r>
            <a:r>
              <a:rPr lang="en-US" sz="17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🟢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Correct” or “</a:t>
            </a:r>
            <a:r>
              <a:rPr lang="en-US" sz="1750" dirty="0">
                <a:solidFill>
                  <a:srgbClr val="00000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🔴</a:t>
            </a: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 Incorrect”) boost learner motivation.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A2C">
              <a:alpha val="8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1"/>
          <p:cNvSpPr/>
          <p:nvPr/>
        </p:nvSpPr>
        <p:spPr>
          <a:xfrm>
            <a:off x="793790" y="2001322"/>
            <a:ext cx="119224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Challenges and Solutions in Development</a:t>
            </a:r>
            <a:endParaRPr lang="en-US" sz="4450" dirty="0"/>
          </a:p>
        </p:txBody>
      </p:sp>
      <p:sp>
        <p:nvSpPr>
          <p:cNvPr id="5" name="Shape 2"/>
          <p:cNvSpPr/>
          <p:nvPr/>
        </p:nvSpPr>
        <p:spPr>
          <a:xfrm>
            <a:off x="793790" y="30502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8860" y="3092768"/>
            <a:ext cx="340162" cy="4252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30906" y="3128129"/>
            <a:ext cx="45155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Preventing Off-Topic Responses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1530906" y="361854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Implemented a strict system prompt ensuring the chatbot answers only within the lecture topic context.</a:t>
            </a:r>
            <a:endParaRPr lang="en-US" sz="1750" dirty="0"/>
          </a:p>
        </p:txBody>
      </p:sp>
      <p:sp>
        <p:nvSpPr>
          <p:cNvPr id="9" name="Shape 5"/>
          <p:cNvSpPr/>
          <p:nvPr/>
        </p:nvSpPr>
        <p:spPr>
          <a:xfrm>
            <a:off x="7457003" y="3050262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2074" y="3092768"/>
            <a:ext cx="340162" cy="4252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94119" y="3128129"/>
            <a:ext cx="39334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Handling Long Code Blocks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8194119" y="3618548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Playwright auto-scrolls slides and adjusts font size dynamically for clear rendering of lengthy code snippets.</a:t>
            </a:r>
            <a:endParaRPr lang="en-US" sz="1750" dirty="0"/>
          </a:p>
        </p:txBody>
      </p:sp>
      <p:sp>
        <p:nvSpPr>
          <p:cNvPr id="13" name="Shape 8"/>
          <p:cNvSpPr/>
          <p:nvPr/>
        </p:nvSpPr>
        <p:spPr>
          <a:xfrm>
            <a:off x="793790" y="4797981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8860" y="4840486"/>
            <a:ext cx="340162" cy="42529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30906" y="4875848"/>
            <a:ext cx="542198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Avatar Generation Resource Demands</a:t>
            </a:r>
            <a:endParaRPr lang="en-US" sz="2200" dirty="0"/>
          </a:p>
        </p:txBody>
      </p:sp>
      <p:sp>
        <p:nvSpPr>
          <p:cNvPr id="16" name="Text 10"/>
          <p:cNvSpPr/>
          <p:nvPr/>
        </p:nvSpPr>
        <p:spPr>
          <a:xfrm>
            <a:off x="1530906" y="5366266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Generating advanced avatars requires GPU-intensive processing, posing challenges for deployment and scaling.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530906" y="5865257"/>
            <a:ext cx="123057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Optimizations and resource management strategies were implemented to address GPU usage effectively.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863" y="522208"/>
            <a:ext cx="10531912" cy="555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Scaling the Application for Different User Loads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21863" y="1521500"/>
            <a:ext cx="343447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1: Moderate User Base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21863" y="1976676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Supports up to 100 concurrent users with efficient resource use.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21863" y="2420779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React frontend hosted on AWS Amplify or S3 + CloudFront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863" y="2767132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Backend on AWS Elastic Beanstalk or ECS with auto-scaling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863" y="3113484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Video processing via AWS Batch or EC2 GPU spot instances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1863" y="3459837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Storage and delivery using Amazon S3 and CloudFront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539514" y="1521500"/>
            <a:ext cx="2956203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Scenario 2: High User Base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539514" y="1976676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Designed for 1000+ users with low latency and high availability.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39514" y="2420779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Global frontend distribution on AWS CloudFront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539514" y="2767132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Kubernetes deployment with horizontal pod autoscaling (AWS EKS)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39514" y="3113484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GPU-optimized EC2 instances for video rendering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39514" y="3459837"/>
            <a:ext cx="6476643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200"/>
              </a:lnSpc>
              <a:buSzPct val="100000"/>
              <a:buChar char="•"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Multi-region deployment with event-driven task management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1863" y="4072652"/>
            <a:ext cx="6222087" cy="277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Estimation: 10-Minute Video (OpenAI GPT-4o + TTS)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863" y="4616648"/>
            <a:ext cx="13386673" cy="3090624"/>
          </a:xfrm>
          <a:prstGeom prst="roundRect">
            <a:avLst>
              <a:gd name="adj" fmla="val 2415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9483" y="4624268"/>
            <a:ext cx="13371433" cy="512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07363" y="4738449"/>
            <a:ext cx="409884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Task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269111" y="4738449"/>
            <a:ext cx="40937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Tokens/Chars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9725739" y="4738449"/>
            <a:ext cx="409753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Estimated Cost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9483" y="5136833"/>
            <a:ext cx="13371433" cy="512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07363" y="5251013"/>
            <a:ext cx="409884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Slide + Narration Generation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269111" y="5251013"/>
            <a:ext cx="40937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~4000 tokens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725739" y="5251013"/>
            <a:ext cx="409753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$0.04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9483" y="5649397"/>
            <a:ext cx="13371433" cy="512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07363" y="5763578"/>
            <a:ext cx="409884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Slide HTML Formatting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269111" y="5763578"/>
            <a:ext cx="40937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~1000 tokens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725739" y="5763578"/>
            <a:ext cx="409753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$0.01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29483" y="6161961"/>
            <a:ext cx="13371433" cy="512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807363" y="6276142"/>
            <a:ext cx="409884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Narration Audio (TTS)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5269111" y="6276142"/>
            <a:ext cx="40937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~9000 chars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9725739" y="6276142"/>
            <a:ext cx="409753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$0.135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9483" y="6674525"/>
            <a:ext cx="13371433" cy="51256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807363" y="6788706"/>
            <a:ext cx="409884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Quiz + Chatbot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269111" y="6788706"/>
            <a:ext cx="40937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~2000 tokens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725739" y="6788706"/>
            <a:ext cx="409753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$0.02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629483" y="7187089"/>
            <a:ext cx="13371433" cy="51256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807363" y="7301270"/>
            <a:ext cx="409884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Total (approx.)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269111" y="7301270"/>
            <a:ext cx="409372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9725739" y="7301270"/>
            <a:ext cx="4097536" cy="284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b="1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$0.21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113121"/>
            <a:ext cx="7556421" cy="19564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700"/>
              </a:lnSpc>
              <a:buNone/>
            </a:pPr>
            <a:r>
              <a:rPr lang="en-US" sz="61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Deployment on AWS EC2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440971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successfully deployed the application on AWS EC2 instances for scalable performance.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39067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This setup provides flexible resource management and easy integration with other AWS services.</a:t>
            </a:r>
            <a:endParaRPr lang="en-US" sz="1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05100"/>
            <a:ext cx="76656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F2F0F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You. Any Questions?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8675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910013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945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443579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We welcome your feedback and questions to improve the platform.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235893" y="38675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0963" y="3910013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73008" y="3945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Connect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973008" y="4435793"/>
            <a:ext cx="342149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Reach out anytime for support or further discussion.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9677995" y="3867507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31136C"/>
          </a:solidFill>
          <a:ln w="7620">
            <a:solidFill>
              <a:srgbClr val="4A2C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63065" y="3910013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415111" y="39453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DCD7E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0415111" y="4435793"/>
            <a:ext cx="342149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Explore the platform and experience interactive e-learning firsthand.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961</Words>
  <Application>Microsoft Macintosh PowerPoint</Application>
  <PresentationFormat>Custom</PresentationFormat>
  <Paragraphs>139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Montserrat</vt:lpstr>
      <vt:lpstr>Heebo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Doddannagari, Vedanth Reddy</cp:lastModifiedBy>
  <cp:revision>3</cp:revision>
  <dcterms:created xsi:type="dcterms:W3CDTF">2025-05-05T16:41:43Z</dcterms:created>
  <dcterms:modified xsi:type="dcterms:W3CDTF">2025-05-05T18:29:33Z</dcterms:modified>
</cp:coreProperties>
</file>